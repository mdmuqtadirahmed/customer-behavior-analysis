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Cormorant Garamond Medium"/>
      <p:regular r:id="rId201314"/>
    </p:embeddedFont>
    <p:embeddedFont>
      <p:font typeface="Gentium Book Plus"/>
      <p:regular r:id="rId201315"/>
    </p:embeddedFont>
    <p:embeddedFont>
      <p:font typeface="Gentium Book Plu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3740789"/>
            <a:ext cx="7442014" cy="208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86" kern="100" dirty="0">
                <a:solidFill>
                  <a:srgbClr val="FFFFFF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Customer</a:t>
            </a:r>
            <a:endParaRPr lang="en-US" sz="7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200" spc="-86" kern="100" dirty="0">
                <a:solidFill>
                  <a:srgbClr val="FFFFFF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Behavior Analysis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60383" y="6014264"/>
            <a:ext cx="787380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By Mohammed Muqtadir Ahmed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5" kern="100" dirty="0">
                <a:solidFill>
                  <a:srgbClr val="6F5A7A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EXECUTIVE READOUT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60383" y="979424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100" dirty="0">
                <a:solidFill>
                  <a:srgbClr val="38243D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Revenue is constrained by customer count, not basket size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60383" y="1672947"/>
            <a:ext cx="1148051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Average order value stays close to $60 across the major customer and order segments.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176959"/>
            <a:ext cx="4190895" cy="184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0383" y="4106565"/>
            <a:ext cx="53592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12" kern="100" dirty="0">
                <a:solidFill>
                  <a:srgbClr val="6F5A7A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3,900 customers generated $233,081 in revenue. Men represent 68% of customers and 68% of revenue, or $157.9K.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046" y="2176959"/>
            <a:ext cx="4190895" cy="184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72046" y="4106565"/>
            <a:ext cx="53592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12" kern="100" dirty="0">
                <a:solidFill>
                  <a:srgbClr val="6F5A7A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Women generate $75.2K, with nearly identical AOV: $60.25 versus $59.54 for men.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60383" y="4736009"/>
            <a:ext cx="10870928" cy="930870"/>
          </a:xfrm>
          <a:prstGeom prst="rect">
            <a:avLst/>
          </a:prstGeom>
          <a:solidFill>
            <a:srgbClr val="E8E0EE"/>
          </a:solidFill>
          <a:ln/>
        </p:spPr>
      </p:sp>
      <p:sp>
        <p:nvSpPr>
          <p:cNvPr id="10" name="Text 6"/>
          <p:cNvSpPr/>
          <p:nvPr/>
        </p:nvSpPr>
        <p:spPr>
          <a:xfrm>
            <a:off x="888978" y="4891107"/>
            <a:ext cx="1041373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The gap is audience mix, not spending power.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 Growth should prioritize acquiring more of the right customers and increasing basket size.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5" kern="100" dirty="0">
                <a:solidFill>
                  <a:srgbClr val="6F5A7A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CATEGORY MIX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60383" y="979424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100" dirty="0">
                <a:solidFill>
                  <a:srgbClr val="38243D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Clothing and Accessories carry the business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670248"/>
            <a:ext cx="4571886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5717" y="1930202"/>
            <a:ext cx="4165496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72" kern="100" dirty="0">
                <a:solidFill>
                  <a:srgbClr val="38243D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77%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7365717" y="3041372"/>
            <a:ext cx="416549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of revenue comes from Clothing and Accessories.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65717" y="3844131"/>
            <a:ext cx="1374443" cy="31651"/>
          </a:xfrm>
          <a:prstGeom prst="roundRect">
            <a:avLst>
              <a:gd name="adj" fmla="val 49998"/>
            </a:avLst>
          </a:prstGeom>
          <a:solidFill>
            <a:srgbClr val="9E8BA9"/>
          </a:solidFill>
          <a:ln/>
        </p:spPr>
      </p:sp>
      <p:sp>
        <p:nvSpPr>
          <p:cNvPr id="8" name="Text 5"/>
          <p:cNvSpPr/>
          <p:nvPr/>
        </p:nvSpPr>
        <p:spPr>
          <a:xfrm>
            <a:off x="7365717" y="4055269"/>
            <a:ext cx="4165496" cy="137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Clothing contributes 45% of revenue, or $104K; Accessories contributes 32%, or $74K.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29242D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Outerwear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 contributes 8% and has the lowest AOV at $57.17.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65717" y="5563791"/>
            <a:ext cx="41654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12" kern="100" dirty="0">
                <a:solidFill>
                  <a:srgbClr val="6F5A7A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Category contribution and AOV observations from the dataset.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7152"/>
            <a:ext cx="11480513" cy="18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11" kern="100" dirty="0">
                <a:solidFill>
                  <a:srgbClr val="6F5A7A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RECOMMENDATION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60383" y="932200"/>
            <a:ext cx="10870928" cy="443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350" spc="-34" kern="100" dirty="0">
                <a:solidFill>
                  <a:srgbClr val="38243D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Recommendations: make basket size the first growth test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660383" y="1528820"/>
            <a:ext cx="11480513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Test the increment before scaling acquisition.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0383" y="1935063"/>
            <a:ext cx="807422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38243D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0383" y="2202458"/>
            <a:ext cx="3318784" cy="19050"/>
          </a:xfrm>
          <a:prstGeom prst="rect">
            <a:avLst/>
          </a:prstGeom>
          <a:solidFill>
            <a:srgbClr val="38243D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2346760"/>
            <a:ext cx="3318784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Bundle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0383" y="2744646"/>
            <a:ext cx="3318784" cy="782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Test Clothing plus Accessories bundles and a free-shipping threshold around $75.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6356" y="1935063"/>
            <a:ext cx="807422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38243D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6356" y="2202458"/>
            <a:ext cx="3318883" cy="19050"/>
          </a:xfrm>
          <a:prstGeom prst="rect">
            <a:avLst/>
          </a:prstGeom>
          <a:solidFill>
            <a:srgbClr val="38243D"/>
          </a:solidFill>
          <a:ln/>
        </p:spPr>
      </p:sp>
      <p:sp>
        <p:nvSpPr>
          <p:cNvPr id="11" name="Text 9"/>
          <p:cNvSpPr/>
          <p:nvPr/>
        </p:nvSpPr>
        <p:spPr>
          <a:xfrm>
            <a:off x="4436356" y="2346760"/>
            <a:ext cx="3318883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Measure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436356" y="2744646"/>
            <a:ext cx="3318883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Measure AOV, units per order and conversion, not revenue alone.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12428" y="1935063"/>
            <a:ext cx="807422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38243D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12428" y="2202458"/>
            <a:ext cx="3318784" cy="19050"/>
          </a:xfrm>
          <a:prstGeom prst="rect">
            <a:avLst/>
          </a:prstGeom>
          <a:solidFill>
            <a:srgbClr val="3824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12428" y="2346760"/>
            <a:ext cx="3318784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Hold out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212428" y="2744646"/>
            <a:ext cx="3318784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Use a holdout group so the incremental effect is visible.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E8E0EE"/>
          </a:solidFill>
          <a:ln/>
        </p:spPr>
      </p:sp>
      <p:sp>
        <p:nvSpPr>
          <p:cNvPr id="18" name="Text 16"/>
          <p:cNvSpPr/>
          <p:nvPr/>
        </p:nvSpPr>
        <p:spPr>
          <a:xfrm>
            <a:off x="279393" y="3854852"/>
            <a:ext cx="11912302" cy="18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11" kern="100" dirty="0">
                <a:solidFill>
                  <a:srgbClr val="6F5A7A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NEXT 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9393" y="4182070"/>
            <a:ext cx="11632909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spcAft>
                <a:spcPts val="11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Target acquisition and redesign subscription.</a:t>
            </a:r>
            <a:pPr algn="l" indent="0" marL="0">
              <a:lnSpc>
                <a:spcPct val="114000"/>
              </a:lnSpc>
              <a:spcAft>
                <a:spcPts val="115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 Run a targeted acquisition test for women in Clothing and Accessories.</a:t>
            </a:r>
            <a:endParaRPr lang="en-US" sz="1500" dirty="0"/>
          </a:p>
          <a:p>
            <a:pPr algn="l" indent="0" marL="0">
              <a:lnSpc>
                <a:spcPct val="114000"/>
              </a:lnSpc>
              <a:spcAft>
                <a:spcPts val="11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 Replace blanket subscription discounts with perks tied to higher spend</a:t>
            </a:r>
            <a:pPr algn="l" indent="0" marL="0">
              <a:lnSpc>
                <a:spcPct val="114000"/>
              </a:lnSpc>
              <a:spcAft>
                <a:spcPts val="115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: free shipping thresholds, early access or tiered rewards. </a:t>
            </a:r>
            <a:endParaRPr lang="en-US" sz="15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Move New customers toward subscription with a post-first-purchase offer.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5" kern="100" dirty="0">
                <a:solidFill>
                  <a:srgbClr val="6F5A7A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RECOMMENDATION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60383" y="979424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100" dirty="0">
                <a:solidFill>
                  <a:srgbClr val="38243D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Recommendations: protect margin and fix weak lines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60383" y="1670248"/>
            <a:ext cx="5283068" cy="1556345"/>
          </a:xfrm>
          <a:prstGeom prst="roundRect">
            <a:avLst>
              <a:gd name="adj" fmla="val 734"/>
            </a:avLst>
          </a:prstGeom>
          <a:solidFill>
            <a:srgbClr val="EAE7F0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1909961"/>
            <a:ext cx="482587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Discount discipline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88978" y="2374622"/>
            <a:ext cx="482587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Reduce discount depth on Hat, Sneakers and Coat in a controlled test.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8244" y="1670248"/>
            <a:ext cx="5283068" cy="1556345"/>
          </a:xfrm>
          <a:prstGeom prst="roundRect">
            <a:avLst>
              <a:gd name="adj" fmla="val 734"/>
            </a:avLst>
          </a:prstGeom>
          <a:solidFill>
            <a:srgbClr val="EAE7F0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1909961"/>
            <a:ext cx="482587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Product review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76838" y="2374622"/>
            <a:ext cx="482587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Review Jeans and Shirt for fit, quality or pricing issues.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0383" y="3531394"/>
            <a:ext cx="5283068" cy="1556345"/>
          </a:xfrm>
          <a:prstGeom prst="roundRect">
            <a:avLst>
              <a:gd name="adj" fmla="val 734"/>
            </a:avLst>
          </a:prstGeom>
          <a:solidFill>
            <a:srgbClr val="EAE7F0"/>
          </a:solidFill>
          <a:ln/>
        </p:spPr>
      </p:sp>
      <p:sp>
        <p:nvSpPr>
          <p:cNvPr id="11" name="Text 9"/>
          <p:cNvSpPr/>
          <p:nvPr/>
        </p:nvSpPr>
        <p:spPr>
          <a:xfrm>
            <a:off x="888978" y="3771106"/>
            <a:ext cx="482587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Merchandising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8978" y="4235767"/>
            <a:ext cx="505447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Feature Gloves, Sandals and Boots in merchandising.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3531394"/>
            <a:ext cx="5283068" cy="1556345"/>
          </a:xfrm>
          <a:prstGeom prst="roundRect">
            <a:avLst>
              <a:gd name="adj" fmla="val 734"/>
            </a:avLst>
          </a:prstGeom>
          <a:solidFill>
            <a:srgbClr val="EAE7F0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3771106"/>
            <a:ext cx="482587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Outerwear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76838" y="4235767"/>
            <a:ext cx="482587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Review Outerwear pricing, range and premium SKU coverage.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1883469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5" kern="100" dirty="0">
                <a:solidFill>
                  <a:srgbClr val="6F5A7A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READ BEFORE ACTING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60383" y="2196937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100" dirty="0">
                <a:solidFill>
                  <a:srgbClr val="38243D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Important caveats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383" y="2887762"/>
          <a:ext cx="10870928" cy="914400"/>
        </p:xfrm>
        <a:graphic>
          <a:graphicData uri="http://schemas.openxmlformats.org/drawingml/2006/table">
            <a:tbl>
              <a:tblPr/>
              <a:tblGrid>
                <a:gridCol w="3261239"/>
                <a:gridCol w="7609689"/>
              </a:tblGrid>
              <a:tr h="446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spc="125" kern="100" dirty="0">
                          <a:solidFill>
                            <a:srgbClr val="6F5A7A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DATA SCOPE</a:t>
                      </a:r>
                      <a:endParaRPr lang="en-US" sz="12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64008" marR="177796" marT="63498" marB="63498" anchor="ctr">
                    <a:lnL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42D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The dataset has no cost, margin, date or repeat-order data.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64008" marR="177796" marT="63498" marB="63498" anchor="ctr">
                    <a:lnL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spc="125" kern="100" dirty="0">
                          <a:solidFill>
                            <a:srgbClr val="6F5A7A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DISCOUNTS</a:t>
                      </a:r>
                      <a:endParaRPr lang="en-US" sz="12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64008" marR="177796" marT="63498" marB="63498" anchor="ctr">
                    <a:lnL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42D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Discount findings are observational, not proof of cause.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64008" marR="177796" marT="63498" marB="63498" anchor="ctr">
                    <a:lnL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4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spc="125" kern="100" dirty="0">
                          <a:solidFill>
                            <a:srgbClr val="6F5A7A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SEGMENT MIX</a:t>
                      </a:r>
                      <a:endParaRPr lang="en-US" sz="12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64008" marR="177796" marT="63498" marB="63498" anchor="ctr">
                    <a:lnL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42D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Loyal customers are 80% of the dataset because the segment is defined as more than 10 previous purchases.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64008" marR="177796" marT="63498" marB="63498" anchor="ctr">
                    <a:lnL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spc="125" kern="100" dirty="0">
                          <a:solidFill>
                            <a:srgbClr val="6F5A7A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VALIDATION</a:t>
                      </a:r>
                      <a:endParaRPr lang="en-US" sz="12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64008" marR="177796" marT="63498" marB="63498" anchor="ctr">
                    <a:lnL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42D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Use experiments and tighter segmentation to validate the recommendations.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64008" marR="177796" marT="63498" marB="63498" anchor="ctr">
                    <a:lnL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5956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5" kern="100" dirty="0">
                <a:solidFill>
                  <a:srgbClr val="6F5A7A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APPENDIX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60383" y="979424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100" dirty="0">
                <a:solidFill>
                  <a:srgbClr val="38243D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Project Workflow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60383" y="1670248"/>
            <a:ext cx="72150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38243D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0383" y="1985367"/>
            <a:ext cx="520687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Prepare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0383" y="2400022"/>
            <a:ext cx="520687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Prepare the data in Python: clean fields, fill missing review ratings, create age groups and purchase-frequency days.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24442" y="1670248"/>
            <a:ext cx="72150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38243D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24442" y="1985367"/>
            <a:ext cx="520687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Load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24442" y="2400022"/>
            <a:ext cx="520687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Load the cleaned DataFrame into SQL Server and verify the table.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0383" y="3793629"/>
            <a:ext cx="72150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38243D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0383" y="4108748"/>
            <a:ext cx="520687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Answer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0383" y="4523403"/>
            <a:ext cx="520687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Answer 10 business questions with SQL queries covering revenue, discounts, products, shipping, subscription and segments.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24442" y="3793629"/>
            <a:ext cx="72150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38243D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24442" y="4108748"/>
            <a:ext cx="520687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243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Visualize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24442" y="4523403"/>
            <a:ext cx="520687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-120"/>
              </a:rPr>
              <a:t>Connect Power BI to SQL Server and build KPI cards, category and age-group visuals, plus slicers for subscription, gender, category and shipment type.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2026-10-12T20:53:11Z</dcterms:created>
  <dcterms:modified xsi:type="dcterms:W3CDTF">2026-10-12T20:53:11Z</dcterms:modified>
</cp:coreProperties>
</file>